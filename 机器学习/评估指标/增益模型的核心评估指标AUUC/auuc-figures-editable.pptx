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a87023c5e4294" /><Relationship Type="http://schemas.openxmlformats.org/officeDocument/2006/relationships/extended-properties" Target="/docProps/app.xml" Id="Rb3aecd1949334555" /><Relationship Type="http://schemas.openxmlformats.org/officeDocument/2006/relationships/officeDocument" Target="/ppt/presentation.xml" Id="R2683b89e5ce3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0b94b8789499f"/>
  </p:sldMasterIdLst>
  <p:notesMasterIdLst>
    <p:notesMasterId xmlns:r="http://schemas.openxmlformats.org/officeDocument/2006/relationships" r:id="Rdb5520eaf55946af"/>
  </p:notesMasterIdLst>
  <p:sldIdLst>
    <p:sldId xmlns:r="http://schemas.openxmlformats.org/officeDocument/2006/relationships" id="256" r:id="R83c62b13c0334b08"/>
    <p:sldId xmlns:r="http://schemas.openxmlformats.org/officeDocument/2006/relationships" id="257" r:id="Re92f8a4c830549b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15036326c4a12" /><Relationship Type="http://schemas.openxmlformats.org/officeDocument/2006/relationships/slideMaster" Target="/ppt/slideMasters/slideMaster1.xml" Id="R9e70b94b8789499f" /><Relationship Type="http://schemas.openxmlformats.org/officeDocument/2006/relationships/notesMaster" Target="/ppt/notesMasters/notesMaster1.xml" Id="Rdb5520eaf55946af" /><Relationship Type="http://schemas.openxmlformats.org/officeDocument/2006/relationships/presProps" Target="/ppt/presProps.xml" Id="Rf515d45be1d846cf" /><Relationship Type="http://schemas.openxmlformats.org/officeDocument/2006/relationships/tableStyles" Target="/ppt/tableStyles.xml" Id="Rd86860de4d8545ae" /><Relationship Type="http://schemas.openxmlformats.org/officeDocument/2006/relationships/slide" Target="/ppt/slides/slide1.xml" Id="R83c62b13c0334b08" /><Relationship Type="http://schemas.openxmlformats.org/officeDocument/2006/relationships/slide" Target="/ppt/slides/slide2.xml" Id="Re92f8a4c8305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0cb74717c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0b6ee9b43d4602" /><Relationship Type="http://schemas.openxmlformats.org/officeDocument/2006/relationships/notesMaster" Target="/ppt/notesMasters/notesMaster1.xml" Id="R6cb1ab6bf9d44f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efa9d9c49848f0" /><Relationship Type="http://schemas.openxmlformats.org/officeDocument/2006/relationships/notesMaster" Target="/ppt/notesMasters/notesMaster1.xml" Id="Rc8e3d7c686934b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设计参考：auuc-evaluation-flow-design.png，由内置 imagegen 生成。模块、标签、公式、编号和连接线均使用 PowerPoint 原生对象复现。公式与案例来源于同目录 AUUC 博文，数据为教学构造。编辑后从本页重新导出文章图1。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数据来源：AUUC 博文表2-2。横轴为累计覆盖比例。采用原生折线图，模型序列[0,30,40,60,60,50]，随机序列[0,10,20,30,40,50]。阴影为根据同一组数据创建的原生可编辑形状。梯形积分原始面积43、随机面积25、超额18。数据与图表均可在 PowerPoint 中修改，未使用生成图估计坐标。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3828694214d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16d9be88c47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9663ae72c45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16b51e48746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3c08c5a184a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02936ecee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010A84-F173-4AB5-AF70-C9AFADEF8A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81D9DB-DB0B-4FF5-B5DC-F927E1D919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9E5466-516D-4351-8E9C-DCCC8DCC8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03C4A-A49C-44B0-882E-587EAF9D1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8C5016-9DFB-4A47-8099-EC618E944A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2737A0-C325-4B8B-B432-B1AE931C9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537534-7829-4CA9-84A9-71D53E709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553B71-13D1-4CA5-A3E1-360153E93F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B6EF8-CCE0-4F6F-87D7-6980BBD807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1B08E4-211A-4AF5-8CC9-8B7A3CAD0E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38d9261174e08" /><Relationship Type="http://schemas.openxmlformats.org/officeDocument/2006/relationships/slideLayout" Target="/ppt/slideLayouts/slideLayout1.xml" Id="R162cdc39539d4700" /><Relationship Type="http://schemas.openxmlformats.org/officeDocument/2006/relationships/slideLayout" Target="/ppt/slideLayouts/slideLayout2.xml" Id="Rfe021e8f1a554217" /><Relationship Type="http://schemas.openxmlformats.org/officeDocument/2006/relationships/slideLayout" Target="/ppt/slideLayouts/slideLayout3.xml" Id="R5d16c85976a642e1" /><Relationship Type="http://schemas.openxmlformats.org/officeDocument/2006/relationships/slideLayout" Target="/ppt/slideLayouts/slideLayout4.xml" Id="R4d6ad8b409b14d9a" /><Relationship Type="http://schemas.openxmlformats.org/officeDocument/2006/relationships/slideLayout" Target="/ppt/slideLayouts/slideLayout5.xml" Id="R57cf3cb97bb04dca" /><Relationship Type="http://schemas.openxmlformats.org/officeDocument/2006/relationships/slideLayout" Target="/ppt/slideLayouts/slideLayout6.xml" Id="Rc0100ae0218a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2cdc39539d4700"/>
    <p:sldLayoutId xmlns:r="http://schemas.openxmlformats.org/officeDocument/2006/relationships" id="2147483650" r:id="Rfe021e8f1a554217"/>
    <p:sldLayoutId xmlns:r="http://schemas.openxmlformats.org/officeDocument/2006/relationships" id="2147483651" r:id="R5d16c85976a642e1"/>
    <p:sldLayoutId xmlns:r="http://schemas.openxmlformats.org/officeDocument/2006/relationships" id="2147483652" r:id="R4d6ad8b409b14d9a"/>
    <p:sldLayoutId xmlns:r="http://schemas.openxmlformats.org/officeDocument/2006/relationships" id="2147483653" r:id="R57cf3cb97bb04dca"/>
    <p:sldLayoutId xmlns:r="http://schemas.openxmlformats.org/officeDocument/2006/relationships" id="2147483654" r:id="Rc0100ae0218a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ee19cb6e54655" /><Relationship Type="http://schemas.openxmlformats.org/officeDocument/2006/relationships/notesSlide" Target="/ppt/notesSlides/notesSlide1.xml" Id="R99cafdb4da52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babd87f6142fc" /><Relationship Type="http://schemas.openxmlformats.org/officeDocument/2006/relationships/chart" Target="/ppt/slides/charts/chart1.xml" Id="R8de6d89df153419a" /><Relationship Type="http://schemas.openxmlformats.org/officeDocument/2006/relationships/notesSlide" Target="/ppt/notesSlides/notesSlide2.xml" Id="R2c914ab0232a41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模型累计增益</c:v>
          </c:tx>
          <c:spPr>
            <a:ln xmlns:a="http://schemas.openxmlformats.org/drawingml/2006/main" w="28575">
              <a:solidFill>
                <a:srgbClr val="3F78B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F78BE"/>
              </a:solidFill>
            </c:spPr>
          </c:marker>
          <c:xVal>
            <c:numRef>
              <c:f>'Chart Data'!$A$2:$A$7</c:f>
              <c:numCache>
                <c:formatCode>0%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30</c:v>
                </c:pt>
                <c:pt idx="2">
                  <c:v>40</c:v>
                </c:pt>
                <c:pt idx="3">
                  <c:v>60</c:v>
                </c:pt>
                <c:pt idx="4">
                  <c:v>60</c:v>
                </c:pt>
                <c:pt idx="5">
                  <c:v>50</c:v>
                </c:pt>
              </c:numCache>
            </c:numRef>
          </c:yVal>
        </c:ser>
        <c:ser>
          <c:idx val="1"/>
          <c:order val="1"/>
          <c:tx>
            <c:v>随机基线</c:v>
          </c:tx>
          <c:spPr>
            <a:ln xmlns:a="http://schemas.openxmlformats.org/drawingml/2006/main" w="23813">
              <a:solidFill>
                <a:srgbClr val="D68B4F"/>
              </a:solidFill>
              <a:prstDash val="dash"/>
            </a:ln>
          </c:spPr>
          <c:marker>
            <c:symbol val="none"/>
          </c:marker>
          <c:xVal>
            <c:numRef>
              <c:f>'Chart Data'!$C$2:$C$7</c:f>
              <c:numCache>
                <c:formatCode>0%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25">
                    <a:solidFill>
                      <a:srgbClr val="17324D"/>
                    </a:solidFill>
                    <a:latin typeface="Arial Unicode MS"/>
                    <a:ea typeface="Arial Unicode MS"/>
                    <a:cs typeface="Arial Unicode MS"/>
                  </a:rPr>
                  <a:t>估计新增购买人数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17324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5A8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25">
                    <a:solidFill>
                      <a:srgbClr val="17324D"/>
                    </a:solidFill>
                    <a:latin typeface="Arial Unicode MS"/>
                    <a:ea typeface="Arial Unicode MS"/>
                    <a:cs typeface="Arial Unicode MS"/>
                  </a:rPr>
                  <a:t>累计覆盖比例 q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17324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95A8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7324D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FD8E8E-7186-4B7E-B9AE-6D4D49256F2F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125200" y="3048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871CE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84740-1E05-4C17-B7C2-CD05879C288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10450" y="3048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9A64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F1301-1143-48F7-B221-DC0B00AA49E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95700" y="3048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CE"/>
            </a:solidFill>
            <a:prstDash val="solid"/>
            <a:tailEnd type="triangle" w="sm" len="sm"/>
          </a:ln>
        </p:spPr>
      </p:cxnSp>
      <p:sp>
        <p:nvSpPr>
          <p:cNvPr id="48" name="flow-title">
            <a:extLst xmlns:a="http://schemas.openxmlformats.org/drawingml/2006/main">
              <a:ext uri="{FF2B5EF4-FFF2-40B4-BE49-F238E27FC236}">
                <a16:creationId xmlns:a16="http://schemas.microsoft.com/office/drawing/2014/main" id="{CEE3F355-CA6D-4BFD-8C26-685A88B3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AUUC 的计算流程</a:t>
            </a:r>
          </a:p>
        </p:txBody>
      </p:sp>
      <p:sp>
        <p:nvSpPr>
          <p:cNvPr id="2" name="stage-1">
            <a:extLst xmlns:a="http://schemas.openxmlformats.org/drawingml/2006/main">
              <a:ext uri="{FF2B5EF4-FFF2-40B4-BE49-F238E27FC236}">
                <a16:creationId xmlns:a16="http://schemas.microsoft.com/office/drawing/2014/main" id="{1AB40DB5-B8DE-48C8-9F77-3ECADF76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2956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3FD"/>
          </a:solidFill>
          <a:ln xmlns:a="http://schemas.openxmlformats.org/drawingml/2006/main" w="17145">
            <a:solidFill>
              <a:srgbClr val="3D8DCE"/>
            </a:solidFill>
            <a:prstDash val="solid"/>
          </a:ln>
        </p:spPr>
      </p:sp>
      <p:sp>
        <p:nvSpPr>
          <p:cNvPr id="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52E1898-EC80-4C29-987D-CAB7031C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810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CE"/>
          </a:solidFill>
          <a:ln xmlns:a="http://schemas.openxmlformats.org/drawingml/2006/main" w="0">
            <a:noFill/>
          </a:ln>
        </p:spPr>
      </p:sp>
      <p:sp>
        <p:nvSpPr>
          <p:cNvPr id="4" name="step-number-label-1">
            <a:extLst xmlns:a="http://schemas.openxmlformats.org/drawingml/2006/main">
              <a:ext uri="{FF2B5EF4-FFF2-40B4-BE49-F238E27FC236}">
                <a16:creationId xmlns:a16="http://schemas.microsoft.com/office/drawing/2014/main" id="{1E5FFAA4-6FA3-441D-9578-46DF6C6B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81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93655BD2-851C-43F1-9FDA-37AE98E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独立测试集</a:t>
            </a:r>
          </a:p>
        </p:txBody>
      </p:sp>
      <p:sp>
        <p:nvSpPr>
          <p:cNvPr id="6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76D8428C-3E1A-46CC-BB99-1EB724C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33650"/>
            <a:ext cx="2971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6E7F4"/>
            </a:solidFill>
            <a:prstDash val="solid"/>
          </a:ln>
        </p:spPr>
      </p:sp>
      <p:sp>
        <p:nvSpPr>
          <p:cNvPr id="7" name="stage-1-line-1">
            <a:extLst xmlns:a="http://schemas.openxmlformats.org/drawingml/2006/main">
              <a:ext uri="{FF2B5EF4-FFF2-40B4-BE49-F238E27FC236}">
                <a16:creationId xmlns:a16="http://schemas.microsoft.com/office/drawing/2014/main" id="{25E645F4-A372-47E1-8142-B43D071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实际分组 W</a:t>
            </a:r>
          </a:p>
        </p:txBody>
      </p:sp>
      <p:sp>
        <p:nvSpPr>
          <p:cNvPr id="8" name="stage-1-line-2">
            <a:extLst xmlns:a="http://schemas.openxmlformats.org/drawingml/2006/main">
              <a:ext uri="{FF2B5EF4-FFF2-40B4-BE49-F238E27FC236}">
                <a16:creationId xmlns:a16="http://schemas.microsoft.com/office/drawing/2014/main" id="{3CA84AB4-1885-4B37-817D-33CB6907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575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购买结果 Y</a:t>
            </a:r>
          </a:p>
        </p:txBody>
      </p:sp>
      <p:sp>
        <p:nvSpPr>
          <p:cNvPr id="9" name="stage-1-line-3">
            <a:extLst xmlns:a="http://schemas.openxmlformats.org/drawingml/2006/main">
              <a:ext uri="{FF2B5EF4-FFF2-40B4-BE49-F238E27FC236}">
                <a16:creationId xmlns:a16="http://schemas.microsoft.com/office/drawing/2014/main" id="{A1845C3A-98DD-4E39-8ABB-E40FBC7C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909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预测分数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7EE5F5B7-7544-47B7-BAE0-D2139F6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76375"/>
            <a:ext cx="32956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6E9"/>
          </a:solidFill>
          <a:ln xmlns:a="http://schemas.openxmlformats.org/drawingml/2006/main" w="17145">
            <a:solidFill>
              <a:srgbClr val="4C9A64"/>
            </a:solidFill>
            <a:prstDash val="solid"/>
          </a:ln>
        </p:spPr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0468D0AC-6F92-49E2-B469-5908115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5810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A64"/>
          </a:solidFill>
          <a:ln xmlns:a="http://schemas.openxmlformats.org/drawingml/2006/main" w="0">
            <a:noFill/>
          </a:ln>
        </p:spPr>
      </p:sp>
      <p:sp>
        <p:nvSpPr>
          <p:cNvPr id="12" name="step-number-label-2">
            <a:extLst xmlns:a="http://schemas.openxmlformats.org/drawingml/2006/main">
              <a:ext uri="{FF2B5EF4-FFF2-40B4-BE49-F238E27FC236}">
                <a16:creationId xmlns:a16="http://schemas.microsoft.com/office/drawing/2014/main" id="{E6852EF9-A122-4A1B-99CD-970AAACE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581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52F1D843-64B5-4C68-B296-14B06A5A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6212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按分数排序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8293F7A3-92DF-46E9-B553-EBF538A2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33650"/>
            <a:ext cx="2971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6E7F4"/>
            </a:solidFill>
            <a:prstDash val="solid"/>
          </a:ln>
        </p:spPr>
      </p:sp>
      <p:sp>
        <p:nvSpPr>
          <p:cNvPr id="15" name="stage-2-line-1">
            <a:extLst xmlns:a="http://schemas.openxmlformats.org/drawingml/2006/main">
              <a:ext uri="{FF2B5EF4-FFF2-40B4-BE49-F238E27FC236}">
                <a16:creationId xmlns:a16="http://schemas.microsoft.com/office/drawing/2014/main" id="{3DB0BF4F-4203-47A0-9751-F39DFB7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432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分数从高到低</a:t>
            </a:r>
          </a:p>
        </p:txBody>
      </p:sp>
      <p:sp>
        <p:nvSpPr>
          <p:cNvPr id="16" name="stage-2-line-2">
            <a:extLst xmlns:a="http://schemas.openxmlformats.org/drawingml/2006/main">
              <a:ext uri="{FF2B5EF4-FFF2-40B4-BE49-F238E27FC236}">
                <a16:creationId xmlns:a16="http://schemas.microsoft.com/office/drawing/2014/main" id="{02E2D2A0-9ECF-4EF3-8714-66651FD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相同分数一起取点</a:t>
            </a:r>
          </a:p>
        </p:txBody>
      </p:sp>
      <p:sp>
        <p:nvSpPr>
          <p:cNvPr id="17" name="stage-3">
            <a:extLst xmlns:a="http://schemas.openxmlformats.org/drawingml/2006/main">
              <a:ext uri="{FF2B5EF4-FFF2-40B4-BE49-F238E27FC236}">
                <a16:creationId xmlns:a16="http://schemas.microsoft.com/office/drawing/2014/main" id="{07EEFDCB-35B0-407E-AF03-E6A4F6F4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76375"/>
            <a:ext cx="32956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7145">
            <a:solidFill>
              <a:srgbClr val="8871CE"/>
            </a:solidFill>
            <a:prstDash val="solid"/>
          </a:ln>
        </p:spPr>
      </p:sp>
      <p:sp>
        <p:nvSpPr>
          <p:cNvPr id="1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5CDEA97-7C3B-4359-968D-51F32936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5810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71CE"/>
          </a:solidFill>
          <a:ln xmlns:a="http://schemas.openxmlformats.org/drawingml/2006/main" w="0">
            <a:noFill/>
          </a:ln>
        </p:spPr>
      </p:sp>
      <p:sp>
        <p:nvSpPr>
          <p:cNvPr id="19" name="step-number-label-3">
            <a:extLst xmlns:a="http://schemas.openxmlformats.org/drawingml/2006/main">
              <a:ext uri="{FF2B5EF4-FFF2-40B4-BE49-F238E27FC236}">
                <a16:creationId xmlns:a16="http://schemas.microsoft.com/office/drawing/2014/main" id="{5A433A1F-02DF-4A62-9C86-CE375B2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581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0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7F955082-8C18-46F6-A08F-BD358EA0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6212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累计增益</a:t>
            </a:r>
          </a:p>
        </p:txBody>
      </p:sp>
      <p:sp>
        <p:nvSpPr>
          <p:cNvPr id="21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A5D11300-5F83-40FF-B99E-E9084C07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33650"/>
            <a:ext cx="2971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CEF0"/>
            </a:solidFill>
            <a:prstDash val="solid"/>
          </a:ln>
        </p:spPr>
      </p:sp>
      <p:sp>
        <p:nvSpPr>
          <p:cNvPr id="22" name="stage-3-line-1">
            <a:extLst xmlns:a="http://schemas.openxmlformats.org/drawingml/2006/main">
              <a:ext uri="{FF2B5EF4-FFF2-40B4-BE49-F238E27FC236}">
                <a16:creationId xmlns:a16="http://schemas.microsoft.com/office/drawing/2014/main" id="{6A0225D8-F105-40D9-9935-8C98CB5A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432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选取前 k 人</a:t>
            </a:r>
          </a:p>
        </p:txBody>
      </p:sp>
      <p:sp>
        <p:nvSpPr>
          <p:cNvPr id="23" name="stage-3-line-2">
            <a:extLst xmlns:a="http://schemas.openxmlformats.org/drawingml/2006/main">
              <a:ext uri="{FF2B5EF4-FFF2-40B4-BE49-F238E27FC236}">
                <a16:creationId xmlns:a16="http://schemas.microsoft.com/office/drawing/2014/main" id="{67376C3E-CF01-4377-A2E6-EC17937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004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两组购买率差 × k</a:t>
            </a:r>
          </a:p>
        </p:txBody>
      </p:sp>
      <p:sp>
        <p:nvSpPr>
          <p:cNvPr id="24" name="stage-4">
            <a:extLst xmlns:a="http://schemas.openxmlformats.org/drawingml/2006/main">
              <a:ext uri="{FF2B5EF4-FFF2-40B4-BE49-F238E27FC236}">
                <a16:creationId xmlns:a16="http://schemas.microsoft.com/office/drawing/2014/main" id="{DAA5375F-E2AD-4716-93B3-177C327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76375"/>
            <a:ext cx="32956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3FD"/>
          </a:solidFill>
          <a:ln xmlns:a="http://schemas.openxmlformats.org/drawingml/2006/main" w="17145">
            <a:solidFill>
              <a:srgbClr val="3D8DCE"/>
            </a:solidFill>
            <a:prstDash val="solid"/>
          </a:ln>
        </p:spPr>
      </p:sp>
      <p:sp>
        <p:nvSpPr>
          <p:cNvPr id="25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6CE31793-9FF9-4166-8E39-A16C0EA0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704975"/>
            <a:ext cx="581025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CE"/>
          </a:solidFill>
          <a:ln xmlns:a="http://schemas.openxmlformats.org/drawingml/2006/main" w="0">
            <a:noFill/>
          </a:ln>
        </p:spPr>
      </p:sp>
      <p:sp>
        <p:nvSpPr>
          <p:cNvPr id="26" name="step-number-label-4">
            <a:extLst xmlns:a="http://schemas.openxmlformats.org/drawingml/2006/main">
              <a:ext uri="{FF2B5EF4-FFF2-40B4-BE49-F238E27FC236}">
                <a16:creationId xmlns:a16="http://schemas.microsoft.com/office/drawing/2014/main" id="{0E4A72ED-DA82-4453-BB80-62EAA948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704975"/>
            <a:ext cx="5810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F1157846-6E79-482F-8611-B68CB5F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76212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曲线积分</a:t>
            </a:r>
          </a:p>
        </p:txBody>
      </p:sp>
      <p:sp>
        <p:nvSpPr>
          <p:cNvPr id="28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D53B4888-1DCD-4997-AF90-BDB9D25E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533650"/>
            <a:ext cx="2971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6E7F4"/>
            </a:solidFill>
            <a:prstDash val="solid"/>
          </a:ln>
        </p:spPr>
      </p:sp>
      <p:sp>
        <p:nvSpPr>
          <p:cNvPr id="29" name="stage-4-line-1">
            <a:extLst xmlns:a="http://schemas.openxmlformats.org/drawingml/2006/main">
              <a:ext uri="{FF2B5EF4-FFF2-40B4-BE49-F238E27FC236}">
                <a16:creationId xmlns:a16="http://schemas.microsoft.com/office/drawing/2014/main" id="{44461EE9-79BA-41E9-8ADC-EEC5B75A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432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补上原点</a:t>
            </a:r>
          </a:p>
        </p:txBody>
      </p:sp>
      <p:sp>
        <p:nvSpPr>
          <p:cNvPr id="30" name="stage-4-line-2">
            <a:extLst xmlns:a="http://schemas.openxmlformats.org/drawingml/2006/main">
              <a:ext uri="{FF2B5EF4-FFF2-40B4-BE49-F238E27FC236}">
                <a16:creationId xmlns:a16="http://schemas.microsoft.com/office/drawing/2014/main" id="{D6D937E2-1470-41EE-8B55-32118881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600450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梯形法计算面积</a:t>
            </a:r>
          </a:p>
        </p:txBody>
      </p:sp>
      <p:sp>
        <p:nvSpPr>
          <p:cNvPr id="34" name="cumulative-prefix-band">
            <a:extLst xmlns:a="http://schemas.openxmlformats.org/drawingml/2006/main">
              <a:ext uri="{FF2B5EF4-FFF2-40B4-BE49-F238E27FC236}">
                <a16:creationId xmlns:a16="http://schemas.microsoft.com/office/drawing/2014/main" id="{4E471730-0D06-4499-9A1B-30AF155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4439900" cy="3057525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FF7FE"/>
          </a:solidFill>
          <a:ln xmlns:a="http://schemas.openxmlformats.org/drawingml/2006/main" w="17145">
            <a:solidFill>
              <a:srgbClr val="99BFE3"/>
            </a:solidFill>
            <a:prstDash val="solid"/>
          </a:ln>
        </p:spPr>
      </p:sp>
      <p:sp>
        <p:nvSpPr>
          <p:cNvPr id="35" name="cumulative-prefix-heading">
            <a:extLst xmlns:a="http://schemas.openxmlformats.org/drawingml/2006/main">
              <a:ext uri="{FF2B5EF4-FFF2-40B4-BE49-F238E27FC236}">
                <a16:creationId xmlns:a16="http://schemas.microsoft.com/office/drawing/2014/main" id="{D90BA921-335B-492C-9D31-C56CDFB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每个点都统计累计前缀</a:t>
            </a:r>
          </a:p>
        </p:txBody>
      </p:sp>
      <p:sp>
        <p:nvSpPr>
          <p:cNvPr id="36" name="prefix-example-1">
            <a:extLst xmlns:a="http://schemas.openxmlformats.org/drawingml/2006/main">
              <a:ext uri="{FF2B5EF4-FFF2-40B4-BE49-F238E27FC236}">
                <a16:creationId xmlns:a16="http://schemas.microsoft.com/office/drawing/2014/main" id="{26A35B77-08B3-4181-A3E5-CA447EB2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44196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7D4EF"/>
            </a:solidFill>
            <a:prstDash val="solid"/>
          </a:ln>
        </p:spPr>
      </p:sp>
      <p:sp>
        <p:nvSpPr>
          <p:cNvPr id="37" name="prefix-size-1">
            <a:extLst xmlns:a="http://schemas.openxmlformats.org/drawingml/2006/main">
              <a:ext uri="{FF2B5EF4-FFF2-40B4-BE49-F238E27FC236}">
                <a16:creationId xmlns:a16="http://schemas.microsoft.com/office/drawing/2014/main" id="{BA9AE14A-D2F8-411C-89A4-5FE510B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前 100 人</a:t>
            </a:r>
          </a:p>
        </p:txBody>
      </p:sp>
      <p:sp>
        <p:nvSpPr>
          <p:cNvPr id="38" name="prefix-formula-1">
            <a:extLst xmlns:a="http://schemas.openxmlformats.org/drawingml/2006/main">
              <a:ext uri="{FF2B5EF4-FFF2-40B4-BE49-F238E27FC236}">
                <a16:creationId xmlns:a16="http://schemas.microsoft.com/office/drawing/2014/main" id="{AA605DF4-6C3D-4C74-93E9-81049BB8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7151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(20/50 − 5/50) × 100</a:t>
            </a:r>
          </a:p>
        </p:txBody>
      </p:sp>
      <p:sp>
        <p:nvSpPr>
          <p:cNvPr id="39" name="prefix-gain-1">
            <a:extLst xmlns:a="http://schemas.openxmlformats.org/drawingml/2006/main">
              <a:ext uri="{FF2B5EF4-FFF2-40B4-BE49-F238E27FC236}">
                <a16:creationId xmlns:a16="http://schemas.microsoft.com/office/drawing/2014/main" id="{9F285DA5-F3C2-4E28-9AE1-0A16F16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485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增益 30 人</a:t>
            </a:r>
          </a:p>
        </p:txBody>
      </p:sp>
      <p:sp>
        <p:nvSpPr>
          <p:cNvPr id="40" name="prefix-example-2">
            <a:extLst xmlns:a="http://schemas.openxmlformats.org/drawingml/2006/main">
              <a:ext uri="{FF2B5EF4-FFF2-40B4-BE49-F238E27FC236}">
                <a16:creationId xmlns:a16="http://schemas.microsoft.com/office/drawing/2014/main" id="{48CDB244-FA30-4904-A4AE-8902A57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019800"/>
            <a:ext cx="44196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7D4EF"/>
            </a:solidFill>
            <a:prstDash val="solid"/>
          </a:ln>
        </p:spPr>
      </p:sp>
      <p:sp>
        <p:nvSpPr>
          <p:cNvPr id="41" name="prefix-size-2">
            <a:extLst xmlns:a="http://schemas.openxmlformats.org/drawingml/2006/main">
              <a:ext uri="{FF2B5EF4-FFF2-40B4-BE49-F238E27FC236}">
                <a16:creationId xmlns:a16="http://schemas.microsoft.com/office/drawing/2014/main" id="{CA7379E8-EAE1-4ED6-8DD5-4772B49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341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前 200 人</a:t>
            </a:r>
          </a:p>
        </p:txBody>
      </p:sp>
      <p:sp>
        <p:nvSpPr>
          <p:cNvPr id="42" name="prefix-formula-2">
            <a:extLst xmlns:a="http://schemas.openxmlformats.org/drawingml/2006/main">
              <a:ext uri="{FF2B5EF4-FFF2-40B4-BE49-F238E27FC236}">
                <a16:creationId xmlns:a16="http://schemas.microsoft.com/office/drawing/2014/main" id="{8EE6930A-CD4A-4DBD-B063-5E6D4F2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7151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(30/100 − 10/100) × 200</a:t>
            </a:r>
          </a:p>
        </p:txBody>
      </p:sp>
      <p:sp>
        <p:nvSpPr>
          <p:cNvPr id="43" name="prefix-gain-2">
            <a:extLst xmlns:a="http://schemas.openxmlformats.org/drawingml/2006/main">
              <a:ext uri="{FF2B5EF4-FFF2-40B4-BE49-F238E27FC236}">
                <a16:creationId xmlns:a16="http://schemas.microsoft.com/office/drawing/2014/main" id="{AC79C043-DAB1-4B79-B320-0EFB3F68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2485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增益 40 人</a:t>
            </a:r>
          </a:p>
        </p:txBody>
      </p:sp>
      <p:sp>
        <p:nvSpPr>
          <p:cNvPr id="44" name="prefix-example-3">
            <a:extLst xmlns:a="http://schemas.openxmlformats.org/drawingml/2006/main">
              <a:ext uri="{FF2B5EF4-FFF2-40B4-BE49-F238E27FC236}">
                <a16:creationId xmlns:a16="http://schemas.microsoft.com/office/drawing/2014/main" id="{7AA15396-FCF2-4500-84D8-580AA64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019800"/>
            <a:ext cx="44196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7D4EF"/>
            </a:solidFill>
            <a:prstDash val="solid"/>
          </a:ln>
        </p:spPr>
      </p:sp>
      <p:sp>
        <p:nvSpPr>
          <p:cNvPr id="45" name="prefix-size-3">
            <a:extLst xmlns:a="http://schemas.openxmlformats.org/drawingml/2006/main">
              <a:ext uri="{FF2B5EF4-FFF2-40B4-BE49-F238E27FC236}">
                <a16:creationId xmlns:a16="http://schemas.microsoft.com/office/drawing/2014/main" id="{BBC096A2-22C6-4BC9-B7CD-CFA4EB21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341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前 500 人</a:t>
            </a:r>
          </a:p>
        </p:txBody>
      </p:sp>
      <p:sp>
        <p:nvSpPr>
          <p:cNvPr id="46" name="prefix-formula-3">
            <a:extLst xmlns:a="http://schemas.openxmlformats.org/drawingml/2006/main">
              <a:ext uri="{FF2B5EF4-FFF2-40B4-BE49-F238E27FC236}">
                <a16:creationId xmlns:a16="http://schemas.microsoft.com/office/drawing/2014/main" id="{62F34100-0387-4023-AB57-5FFD44B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7151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(50/250 − 25/250) × 500</a:t>
            </a:r>
          </a:p>
        </p:txBody>
      </p:sp>
      <p:sp>
        <p:nvSpPr>
          <p:cNvPr id="47" name="prefix-gain-3">
            <a:extLst xmlns:a="http://schemas.openxmlformats.org/drawingml/2006/main">
              <a:ext uri="{FF2B5EF4-FFF2-40B4-BE49-F238E27FC236}">
                <a16:creationId xmlns:a16="http://schemas.microsoft.com/office/drawing/2014/main" id="{8AC577E2-A5A6-4DC0-850F-CCE8023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485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增益 50 人</a:t>
            </a:r>
          </a:p>
        </p:txBody>
      </p:sp>
    </p:spTree>
    <p:extLst>
      <p:ext uri="{BB962C8B-B14F-4D97-AF65-F5344CB8AC3E}">
        <p14:creationId xmlns:p14="http://schemas.microsoft.com/office/powerpoint/2010/main" val="361686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ain-title">
            <a:extLst xmlns:a="http://schemas.openxmlformats.org/drawingml/2006/main">
              <a:ext uri="{FF2B5EF4-FFF2-40B4-BE49-F238E27FC236}">
                <a16:creationId xmlns:a16="http://schemas.microsoft.com/office/drawing/2014/main" id="{E960976A-D435-4886-A627-B4462195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累计增益曲线与 AUUC 面积</a:t>
            </a:r>
          </a:p>
        </p:txBody>
      </p:sp>
      <p:sp>
        <p:nvSpPr>
          <p:cNvPr id="2" name="random-area-fill">
            <a:extLst xmlns:a="http://schemas.openxmlformats.org/drawingml/2006/main">
              <a:ext uri="{FF2B5EF4-FFF2-40B4-BE49-F238E27FC236}">
                <a16:creationId xmlns:a16="http://schemas.microsoft.com/office/drawing/2014/main" id="{DA9BF887-537A-4C2E-9C51-2F9ADF0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76425"/>
            <a:ext cx="9344025" cy="4552950"/>
          </a:xfrm>
          <a:custGeom xmlns:a="http://schemas.openxmlformats.org/drawingml/2006/main">
            <a:pathLst>
              <a:path w="9344025" h="4552950">
                <a:moveTo>
                  <a:pt x="0" y="4552950"/>
                </a:moveTo>
                <a:lnTo>
                  <a:pt x="9344025" y="1300843"/>
                </a:lnTo>
                <a:lnTo>
                  <a:pt x="9344025" y="4552950"/>
                </a:lnTo>
                <a:close/>
              </a:path>
            </a:pathLst>
          </a:cu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</a:ln>
        </p:spPr>
      </p:sp>
      <p:sp>
        <p:nvSpPr>
          <p:cNvPr id="3" name="excess-area-fill">
            <a:extLst xmlns:a="http://schemas.openxmlformats.org/drawingml/2006/main">
              <a:ext uri="{FF2B5EF4-FFF2-40B4-BE49-F238E27FC236}">
                <a16:creationId xmlns:a16="http://schemas.microsoft.com/office/drawing/2014/main" id="{321CB690-BC52-4B11-A247-A22AA63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76425"/>
            <a:ext cx="9344025" cy="4552950"/>
          </a:xfrm>
          <a:custGeom xmlns:a="http://schemas.openxmlformats.org/drawingml/2006/main">
            <a:pathLst>
              <a:path w="9344025" h="4552950">
                <a:moveTo>
                  <a:pt x="0" y="4552950"/>
                </a:moveTo>
                <a:lnTo>
                  <a:pt x="1868805" y="2601686"/>
                </a:lnTo>
                <a:lnTo>
                  <a:pt x="3737610" y="1951264"/>
                </a:lnTo>
                <a:lnTo>
                  <a:pt x="5606415" y="650421"/>
                </a:lnTo>
                <a:lnTo>
                  <a:pt x="7475220" y="650421"/>
                </a:lnTo>
                <a:lnTo>
                  <a:pt x="9344025" y="1300843"/>
                </a:lnTo>
                <a:lnTo>
                  <a:pt x="9344025" y="1300843"/>
                </a:lnTo>
                <a:lnTo>
                  <a:pt x="7475220" y="1951264"/>
                </a:lnTo>
                <a:lnTo>
                  <a:pt x="5606415" y="2601686"/>
                </a:lnTo>
                <a:lnTo>
                  <a:pt x="3737610" y="3252107"/>
                </a:lnTo>
                <a:lnTo>
                  <a:pt x="1868805" y="3902529"/>
                </a:lnTo>
                <a:lnTo>
                  <a:pt x="0" y="4552950"/>
                </a:lnTo>
                <a:close/>
              </a:path>
            </a:pathLst>
          </a:custGeom>
          <a:solidFill xmlns:a="http://schemas.openxmlformats.org/drawingml/2006/main">
            <a:srgbClr val="E0EDFF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963EA2A-D78F-47AC-BDE9-E922454CCCEC}"/>
              </a:ext>
            </a:extLst>
          </p:cNvPr>
          <p:cNvGraphicFramePr/>
          <p:nvPr/>
        </p:nvGraphicFramePr>
        <p:xfrm>
          <a:off xmlns:a="http://schemas.openxmlformats.org/drawingml/2006/main" x="666750" y="1447800"/>
          <a:ext xmlns:a="http://schemas.openxmlformats.org/drawingml/2006/main" cx="10477500" cy="576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e6d89df153419a"/>
          </a:graphicData>
        </a:graphic>
      </p:graphicFrame>
      <p:sp>
        <p:nvSpPr>
          <p:cNvPr id="5" name="total-area-label">
            <a:extLst xmlns:a="http://schemas.openxmlformats.org/drawingml/2006/main">
              <a:ext uri="{FF2B5EF4-FFF2-40B4-BE49-F238E27FC236}">
                <a16:creationId xmlns:a16="http://schemas.microsoft.com/office/drawing/2014/main" id="{554C5643-59E0-48F0-99D6-1EE42E6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1336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原始 AUUC</a:t>
            </a:r>
          </a:p>
        </p:txBody>
      </p:sp>
      <p:sp>
        <p:nvSpPr>
          <p:cNvPr id="6" name="total-area-value">
            <a:extLst xmlns:a="http://schemas.openxmlformats.org/drawingml/2006/main">
              <a:ext uri="{FF2B5EF4-FFF2-40B4-BE49-F238E27FC236}">
                <a16:creationId xmlns:a16="http://schemas.microsoft.com/office/drawing/2014/main" id="{F4F76437-ACA0-4D82-AC12-CE9C77E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61937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0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sp>
        <p:nvSpPr>
          <p:cNvPr id="7" name="random-area-label">
            <a:extLst xmlns:a="http://schemas.openxmlformats.org/drawingml/2006/main">
              <a:ext uri="{FF2B5EF4-FFF2-40B4-BE49-F238E27FC236}">
                <a16:creationId xmlns:a16="http://schemas.microsoft.com/office/drawing/2014/main" id="{CBA91019-C690-46FD-80A9-69A9148A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7147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rPr>
              <a:t>随机线下面积</a:t>
            </a:r>
          </a:p>
        </p:txBody>
      </p:sp>
      <p:sp>
        <p:nvSpPr>
          <p:cNvPr id="8" name="random-area-value">
            <a:extLst xmlns:a="http://schemas.openxmlformats.org/drawingml/2006/main">
              <a:ext uri="{FF2B5EF4-FFF2-40B4-BE49-F238E27FC236}">
                <a16:creationId xmlns:a16="http://schemas.microsoft.com/office/drawing/2014/main" id="{4A26D7F4-7BC9-40E8-BAB2-1F7FFCB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421957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AC703E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9" name="excess-area-label">
            <a:extLst xmlns:a="http://schemas.openxmlformats.org/drawingml/2006/main">
              <a:ext uri="{FF2B5EF4-FFF2-40B4-BE49-F238E27FC236}">
                <a16:creationId xmlns:a16="http://schemas.microsoft.com/office/drawing/2014/main" id="{F0A01CCB-FAA0-4801-88A2-36AEA5B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19112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超额面积</a:t>
            </a:r>
          </a:p>
        </p:txBody>
      </p:sp>
      <p:sp>
        <p:nvSpPr>
          <p:cNvPr id="10" name="excess-area-value">
            <a:extLst xmlns:a="http://schemas.openxmlformats.org/drawingml/2006/main">
              <a:ext uri="{FF2B5EF4-FFF2-40B4-BE49-F238E27FC236}">
                <a16:creationId xmlns:a16="http://schemas.microsoft.com/office/drawing/2014/main" id="{4FE54BE6-8DF5-4F25-8F33-5941DF1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66737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3D8DCE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11" name="curve-values">
            <a:extLst xmlns:a="http://schemas.openxmlformats.org/drawingml/2006/main">
              <a:ext uri="{FF2B5EF4-FFF2-40B4-BE49-F238E27FC236}">
                <a16:creationId xmlns:a16="http://schemas.microsoft.com/office/drawing/2014/main" id="{C69498C9-F8E0-401C-933E-2764951A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81875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07080"/>
                </a:solidFill>
                <a:latin typeface="Arial Unicode MS"/>
                <a:ea typeface="Arial Unicode MS"/>
                <a:cs typeface="Arial Unicode MS"/>
              </a:rPr>
              <a:t>累计增益：0、30、40、60、60、50</a:t>
            </a:r>
          </a:p>
        </p:txBody>
      </p:sp>
      <p:sp>
        <p:nvSpPr>
          <p:cNvPr id="12" name="area-identity">
            <a:extLst xmlns:a="http://schemas.openxmlformats.org/drawingml/2006/main">
              <a:ext uri="{FF2B5EF4-FFF2-40B4-BE49-F238E27FC236}">
                <a16:creationId xmlns:a16="http://schemas.microsoft.com/office/drawing/2014/main" id="{951F1A9F-4BB5-4AA8-AFD7-17175517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934325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43 = 25 + 18</a:t>
            </a:r>
          </a:p>
        </p:txBody>
      </p:sp>
    </p:spTree>
    <p:extLst>
      <p:ext uri="{BB962C8B-B14F-4D97-AF65-F5344CB8AC3E}">
        <p14:creationId xmlns:p14="http://schemas.microsoft.com/office/powerpoint/2010/main" val="556472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2026-10-24T03:01:54.9970000Z</dcterms:created>
  <dcterms:modified xsi:type="dcterms:W3CDTF">2026-10-24T03:01:54.9970000Z</dcterms:modified>
</coreProperties>
</file>