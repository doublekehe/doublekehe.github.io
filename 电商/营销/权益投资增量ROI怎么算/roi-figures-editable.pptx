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359da13f5e411d" /><Relationship Type="http://schemas.openxmlformats.org/officeDocument/2006/relationships/extended-properties" Target="/docProps/app.xml" Id="Rb93d83e7a3db487d" /><Relationship Type="http://schemas.openxmlformats.org/officeDocument/2006/relationships/officeDocument" Target="/ppt/presentation.xml" Id="Raf70f83793e946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6fb2f382fe49f5"/>
  </p:sldMasterIdLst>
  <p:notesMasterIdLst>
    <p:notesMasterId xmlns:r="http://schemas.openxmlformats.org/officeDocument/2006/relationships" r:id="R589594b2b6494697"/>
  </p:notesMasterIdLst>
  <p:sldIdLst>
    <p:sldId xmlns:r="http://schemas.openxmlformats.org/officeDocument/2006/relationships" id="256" r:id="R8deb11c0cdf343a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b5a9a76e8b4d15" /><Relationship Type="http://schemas.openxmlformats.org/officeDocument/2006/relationships/slideMaster" Target="/ppt/slideMasters/slideMaster1.xml" Id="Rfd6fb2f382fe49f5" /><Relationship Type="http://schemas.openxmlformats.org/officeDocument/2006/relationships/notesMaster" Target="/ppt/notesMasters/notesMaster1.xml" Id="R589594b2b6494697" /><Relationship Type="http://schemas.openxmlformats.org/officeDocument/2006/relationships/presProps" Target="/ppt/presProps.xml" Id="Ra1b647f911354ed9" /><Relationship Type="http://schemas.openxmlformats.org/officeDocument/2006/relationships/tableStyles" Target="/ppt/tableStyles.xml" Id="R8f537487726641aa" /><Relationship Type="http://schemas.openxmlformats.org/officeDocument/2006/relationships/slide" Target="/ppt/slides/slide1.xml" Id="R8deb11c0cdf343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640300045f4e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caddcf06394a87" /><Relationship Type="http://schemas.openxmlformats.org/officeDocument/2006/relationships/notesMaster" Target="/ppt/notesMasters/notesMaster1.xml" Id="Rc59b5b9c22cf41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数据来源：用户提供的教学算例，2026-10-25。投资空桶 D=100,R=100,C=1，实验桶3 D=110,R=108,C=2。两桶预先随机分配同等10%人群。收入口径整体增量ROI=(108-100)/(2-1)=8。按DAU计算的增量ROI=(108/110-100/100)/(2/110-1/100)=-20/9。人均数仅展示四舍五入，结果按原始数值计算。视觉构图来自随附imagegen设计稿。图中标签、容器、连接线和数据均为原生可编辑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9d5c341b33439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c6ccb508db420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dbd801b1b54f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0d6a3c45454b6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be84c5f55542f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27a5e5ae474f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A29B25-19EE-4582-B749-AED5AEFDCB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C152737-3E6F-42A6-879B-7CBE2C0D8F0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A23E079-8AD8-4C08-9262-AB1FF5904B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732F75-9FD4-40F0-89B2-FB42BC032A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A0DE429-81E7-4476-9C6A-C6EA75F7EE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71A0454-1710-4AA6-95D5-E0BA939C0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B9C8D72-6F56-4370-80D4-AC43BED186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4828DB3-E794-4774-9B9D-8B8D9211C0F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0EACF3-D3E0-4F67-9642-68EB34297A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0E0987-0E3C-421A-9D7E-E234C08F86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9ce74158044e4c" /><Relationship Type="http://schemas.openxmlformats.org/officeDocument/2006/relationships/slideLayout" Target="/ppt/slideLayouts/slideLayout1.xml" Id="R7de67b99e4424cad" /><Relationship Type="http://schemas.openxmlformats.org/officeDocument/2006/relationships/slideLayout" Target="/ppt/slideLayouts/slideLayout2.xml" Id="R7cc634e4021f4af5" /><Relationship Type="http://schemas.openxmlformats.org/officeDocument/2006/relationships/slideLayout" Target="/ppt/slideLayouts/slideLayout3.xml" Id="R0c63126e66274f3b" /><Relationship Type="http://schemas.openxmlformats.org/officeDocument/2006/relationships/slideLayout" Target="/ppt/slideLayouts/slideLayout4.xml" Id="R29eb3dfe6b5f4639" /><Relationship Type="http://schemas.openxmlformats.org/officeDocument/2006/relationships/slideLayout" Target="/ppt/slideLayouts/slideLayout5.xml" Id="R6985c435ece14419" /><Relationship Type="http://schemas.openxmlformats.org/officeDocument/2006/relationships/slideLayout" Target="/ppt/slideLayouts/slideLayout6.xml" Id="R0e23ab0b09454b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e67b99e4424cad"/>
    <p:sldLayoutId xmlns:r="http://schemas.openxmlformats.org/officeDocument/2006/relationships" id="2147483650" r:id="R7cc634e4021f4af5"/>
    <p:sldLayoutId xmlns:r="http://schemas.openxmlformats.org/officeDocument/2006/relationships" id="2147483651" r:id="R0c63126e66274f3b"/>
    <p:sldLayoutId xmlns:r="http://schemas.openxmlformats.org/officeDocument/2006/relationships" id="2147483652" r:id="R29eb3dfe6b5f4639"/>
    <p:sldLayoutId xmlns:r="http://schemas.openxmlformats.org/officeDocument/2006/relationships" id="2147483653" r:id="R6985c435ece14419"/>
    <p:sldLayoutId xmlns:r="http://schemas.openxmlformats.org/officeDocument/2006/relationships" id="2147483654" r:id="R0e23ab0b09454b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740601c4f348c6" /><Relationship Type="http://schemas.openxmlformats.org/officeDocument/2006/relationships/notesSlide" Target="/ppt/notesSlides/notesSlide1.xml" Id="R611f2436ffb44a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B8BDCC-6365-4F8C-93AA-54E51DF7431C}"/>
              </a:ext>
            </a:extLst>
          </p:cNvPr>
          <p:cNvCxnSpPr>
            <a:stCxn xmlns:a="http://schemas.openxmlformats.org/drawingml/2006/main" id="2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7620000" y="1952625"/>
            <a:ext cx="361950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6670">
            <a:solidFill>
              <a:srgbClr val="B7682C"/>
            </a:solidFill>
            <a:prstDash val="solid"/>
            <a:tailEnd type="arrow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7ACDF6-1F1E-4E73-A82C-3AD6F9B003FC}"/>
              </a:ext>
            </a:extLst>
          </p:cNvPr>
          <p:cNvCxnSpPr>
            <a:stCxn xmlns:a="http://schemas.openxmlformats.org/drawingml/2006/main" id="2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4000500" y="1952625"/>
            <a:ext cx="361950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6670">
            <a:solidFill>
              <a:srgbClr val="3D72B7"/>
            </a:solidFill>
            <a:prstDash val="solid"/>
            <a:tailEnd type="arrow" w="sm" len="sm"/>
          </a:ln>
        </p:spPr>
      </p:cxnSp>
      <p:sp>
        <p:nvSpPr>
          <p:cNvPr id="28" name="shared-experiment-inputs">
            <a:extLst xmlns:a="http://schemas.openxmlformats.org/drawingml/2006/main">
              <a:ext uri="{FF2B5EF4-FFF2-40B4-BE49-F238E27FC236}">
                <a16:creationId xmlns:a16="http://schemas.microsoft.com/office/drawing/2014/main" id="{0C9D1B60-C992-4141-9017-74FE0612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3906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15240">
            <a:solidFill>
              <a:srgbClr val="C9D4DF"/>
            </a:solidFill>
            <a:prstDash val="solid"/>
          </a:ln>
        </p:spPr>
      </p:sp>
      <p:sp>
        <p:nvSpPr>
          <p:cNvPr id="2" name="control-heading">
            <a:extLst xmlns:a="http://schemas.openxmlformats.org/drawingml/2006/main">
              <a:ext uri="{FF2B5EF4-FFF2-40B4-BE49-F238E27FC236}">
                <a16:creationId xmlns:a16="http://schemas.microsoft.com/office/drawing/2014/main" id="{E2C51E33-57A9-4C69-980C-1AEC39A1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300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300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300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300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300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300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300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300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300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F2D3D"/>
                </a:solidFill>
                <a:latin typeface="PingFang SC"/>
                <a:ea typeface="PingFang SC"/>
                <a:cs typeface="PingFang SC"/>
              </a:rPr>
              <a:t>投资空桶</a:t>
            </a:r>
          </a:p>
        </p:txBody>
      </p:sp>
      <p:sp>
        <p:nvSpPr>
          <p:cNvPr id="3" name="control-metrics">
            <a:extLst xmlns:a="http://schemas.openxmlformats.org/drawingml/2006/main">
              <a:ext uri="{FF2B5EF4-FFF2-40B4-BE49-F238E27FC236}">
                <a16:creationId xmlns:a16="http://schemas.microsoft.com/office/drawing/2014/main" id="{0DE1DF69-C2E6-430E-81E4-FE24DBA0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3347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F2D3D"/>
                </a:solidFill>
                <a:latin typeface="PingFang SC"/>
                <a:ea typeface="PingFang SC"/>
                <a:cs typeface="PingFang SC"/>
              </a:rPr>
              <a:t>DAU 100    收入 100 元    花费 1 元</a:t>
            </a:r>
          </a:p>
        </p:txBody>
      </p:sp>
      <p:sp>
        <p:nvSpPr>
          <p:cNvPr id="4" name="treatment-heading">
            <a:extLst xmlns:a="http://schemas.openxmlformats.org/drawingml/2006/main">
              <a:ext uri="{FF2B5EF4-FFF2-40B4-BE49-F238E27FC236}">
                <a16:creationId xmlns:a16="http://schemas.microsoft.com/office/drawing/2014/main" id="{1055BE58-6B6F-4EF6-8070-DD48D01E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435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300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300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300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300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300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300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300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300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300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F2D3D"/>
                </a:solidFill>
                <a:latin typeface="PingFang SC"/>
                <a:ea typeface="PingFang SC"/>
                <a:cs typeface="PingFang SC"/>
              </a:rPr>
              <a:t>实验桶3</a:t>
            </a:r>
          </a:p>
        </p:txBody>
      </p:sp>
      <p:sp>
        <p:nvSpPr>
          <p:cNvPr id="5" name="treatment-metrics">
            <a:extLst xmlns:a="http://schemas.openxmlformats.org/drawingml/2006/main">
              <a:ext uri="{FF2B5EF4-FFF2-40B4-BE49-F238E27FC236}">
                <a16:creationId xmlns:a16="http://schemas.microsoft.com/office/drawing/2014/main" id="{676B8288-07FA-4C03-ADE3-2BF81E78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3347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F2D3D"/>
                </a:solidFill>
                <a:latin typeface="PingFang SC"/>
                <a:ea typeface="PingFang SC"/>
                <a:cs typeface="PingFang SC"/>
              </a:rPr>
              <a:t>DAU 110    收入 108 元    花费 2 元</a:t>
            </a:r>
          </a:p>
        </p:txBody>
      </p:sp>
      <p:sp>
        <p:nvSpPr>
          <p:cNvPr id="6" name="input-separator">
            <a:extLst xmlns:a="http://schemas.openxmlformats.org/drawingml/2006/main">
              <a:ext uri="{FF2B5EF4-FFF2-40B4-BE49-F238E27FC236}">
                <a16:creationId xmlns:a16="http://schemas.microsoft.com/office/drawing/2014/main" id="{5AA2C0D8-9B6E-450F-AA73-F44D8BFC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600075"/>
            <a:ext cx="19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7"/>
          </a:solidFill>
          <a:ln xmlns:a="http://schemas.openxmlformats.org/drawingml/2006/main" w="15240">
            <a:solidFill>
              <a:srgbClr val="D7DFE7"/>
            </a:solidFill>
            <a:prstDash val="solid"/>
          </a:ln>
        </p:spPr>
      </p:sp>
      <p:sp>
        <p:nvSpPr>
          <p:cNvPr id="7" name="total-lane">
            <a:extLst xmlns:a="http://schemas.openxmlformats.org/drawingml/2006/main">
              <a:ext uri="{FF2B5EF4-FFF2-40B4-BE49-F238E27FC236}">
                <a16:creationId xmlns:a16="http://schemas.microsoft.com/office/drawing/2014/main" id="{E71D4D1F-9763-4D2F-8641-C962E3DA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666750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AFC8E6"/>
            </a:solidFill>
            <a:prstDash val="solid"/>
          </a:ln>
        </p:spPr>
      </p:sp>
      <p:sp>
        <p:nvSpPr>
          <p:cNvPr id="8" name="per-dau-lane">
            <a:extLst xmlns:a="http://schemas.openxmlformats.org/drawingml/2006/main">
              <a:ext uri="{FF2B5EF4-FFF2-40B4-BE49-F238E27FC236}">
                <a16:creationId xmlns:a16="http://schemas.microsoft.com/office/drawing/2014/main" id="{5D5DDAD8-C8E1-4056-BC70-54B8906F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62250"/>
            <a:ext cx="666750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C4A7"/>
            </a:solidFill>
            <a:prstDash val="solid"/>
          </a:ln>
        </p:spPr>
      </p:sp>
      <p:sp>
        <p:nvSpPr>
          <p:cNvPr id="9" name="total-lane-heading">
            <a:extLst xmlns:a="http://schemas.openxmlformats.org/drawingml/2006/main">
              <a:ext uri="{FF2B5EF4-FFF2-40B4-BE49-F238E27FC236}">
                <a16:creationId xmlns:a16="http://schemas.microsoft.com/office/drawing/2014/main" id="{066B1E4E-6C6C-4A6F-B84F-7865DD73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66675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5240">
            <a:solidFill>
              <a:srgbClr val="AFC8E6"/>
            </a:solidFill>
            <a:prstDash val="solid"/>
          </a:ln>
        </p:spPr>
      </p:sp>
      <p:sp>
        <p:nvSpPr>
          <p:cNvPr id="10" name="per-dau-lane-heading">
            <a:extLst xmlns:a="http://schemas.openxmlformats.org/drawingml/2006/main">
              <a:ext uri="{FF2B5EF4-FFF2-40B4-BE49-F238E27FC236}">
                <a16:creationId xmlns:a16="http://schemas.microsoft.com/office/drawing/2014/main" id="{C668CEA4-D4DE-4603-AB0D-F1C5C848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62250"/>
            <a:ext cx="66675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7"/>
          </a:solidFill>
          <a:ln xmlns:a="http://schemas.openxmlformats.org/drawingml/2006/main" w="15240">
            <a:solidFill>
              <a:srgbClr val="E8C4A7"/>
            </a:solidFill>
            <a:prstDash val="solid"/>
          </a:ln>
        </p:spPr>
      </p:sp>
      <p:sp>
        <p:nvSpPr>
          <p:cNvPr id="11" name="total-heading">
            <a:extLst xmlns:a="http://schemas.openxmlformats.org/drawingml/2006/main">
              <a:ext uri="{FF2B5EF4-FFF2-40B4-BE49-F238E27FC236}">
                <a16:creationId xmlns:a16="http://schemas.microsoft.com/office/drawing/2014/main" id="{8C3F1CA1-B953-4534-A935-7E40A075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3D72B7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3150" b="1">
                <a:solidFill>
                  <a:srgbClr val="3D72B7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3150" b="1">
                <a:solidFill>
                  <a:srgbClr val="3D72B7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3150" b="1">
                <a:solidFill>
                  <a:srgbClr val="3D72B7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3150" b="1">
                <a:solidFill>
                  <a:srgbClr val="3D72B7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3150" b="1">
                <a:solidFill>
                  <a:srgbClr val="3D72B7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3150" b="1">
                <a:solidFill>
                  <a:srgbClr val="3D72B7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3150" b="1">
                <a:solidFill>
                  <a:srgbClr val="3D72B7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3150" b="1">
                <a:solidFill>
                  <a:srgbClr val="3D72B7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3150" b="1">
                <a:solidFill>
                  <a:srgbClr val="3D72B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3D72B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3D72B7"/>
                </a:solidFill>
                <a:latin typeface="PingFang SC"/>
                <a:ea typeface="PingFang SC"/>
                <a:cs typeface="PingFang SC"/>
              </a:rPr>
              <a:t>桶整体</a:t>
            </a:r>
          </a:p>
        </p:txBody>
      </p:sp>
      <p:sp>
        <p:nvSpPr>
          <p:cNvPr id="12" name="per-dau-heading">
            <a:extLst xmlns:a="http://schemas.openxmlformats.org/drawingml/2006/main">
              <a:ext uri="{FF2B5EF4-FFF2-40B4-BE49-F238E27FC236}">
                <a16:creationId xmlns:a16="http://schemas.microsoft.com/office/drawing/2014/main" id="{9AB6691E-5DB6-4975-926B-41514FAF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9560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B768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3150" b="1">
                <a:solidFill>
                  <a:srgbClr val="B768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3150" b="1">
                <a:solidFill>
                  <a:srgbClr val="B768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3150" b="1">
                <a:solidFill>
                  <a:srgbClr val="B768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3150" b="1">
                <a:solidFill>
                  <a:srgbClr val="B768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3150" b="1">
                <a:solidFill>
                  <a:srgbClr val="B768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3150" b="1">
                <a:solidFill>
                  <a:srgbClr val="B768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3150" b="1">
                <a:solidFill>
                  <a:srgbClr val="B768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3150" b="1">
                <a:solidFill>
                  <a:srgbClr val="B768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3150" b="1">
                <a:solidFill>
                  <a:srgbClr val="B768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B7682C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B7682C"/>
                </a:solidFill>
                <a:latin typeface="PingFang SC"/>
                <a:ea typeface="PingFang SC"/>
                <a:cs typeface="PingFang SC"/>
              </a:rPr>
              <a:t>按 DAU 取人均</a:t>
            </a:r>
          </a:p>
        </p:txBody>
      </p:sp>
      <p:sp>
        <p:nvSpPr>
          <p:cNvPr id="15" name="total-revenue-label">
            <a:extLst xmlns:a="http://schemas.openxmlformats.org/drawingml/2006/main">
              <a:ext uri="{FF2B5EF4-FFF2-40B4-BE49-F238E27FC236}">
                <a16:creationId xmlns:a16="http://schemas.microsoft.com/office/drawing/2014/main" id="{D591C233-69D7-404E-A5D3-C1733CBC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rPr>
              <a:t>收入增量</a:t>
            </a:r>
          </a:p>
        </p:txBody>
      </p:sp>
      <p:sp>
        <p:nvSpPr>
          <p:cNvPr id="16" name="total-revenue-value">
            <a:extLst xmlns:a="http://schemas.openxmlformats.org/drawingml/2006/main">
              <a:ext uri="{FF2B5EF4-FFF2-40B4-BE49-F238E27FC236}">
                <a16:creationId xmlns:a16="http://schemas.microsoft.com/office/drawing/2014/main" id="{ED30E486-C820-42D9-AB67-9F115683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481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27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27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27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27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27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27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27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27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27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27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27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pPr>
            <a:r>
              <a:rPr sz="2700" b="0">
                <a:solidFill>
                  <a:srgbClr val="1F2D3D"/>
                </a:solidFill>
                <a:latin typeface="PingFang SC"/>
                <a:ea typeface="PingFang SC"/>
                <a:cs typeface="PingFang SC"/>
              </a:rPr>
              <a:t>108 − 100 = 8</a:t>
            </a:r>
          </a:p>
        </p:txBody>
      </p:sp>
      <p:sp>
        <p:nvSpPr>
          <p:cNvPr id="17" name="total-cost-label">
            <a:extLst xmlns:a="http://schemas.openxmlformats.org/drawingml/2006/main">
              <a:ext uri="{FF2B5EF4-FFF2-40B4-BE49-F238E27FC236}">
                <a16:creationId xmlns:a16="http://schemas.microsoft.com/office/drawing/2014/main" id="{4A1103A9-6DBC-48C9-B64E-B186E2F8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3867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rPr>
              <a:t>花费增量</a:t>
            </a:r>
          </a:p>
        </p:txBody>
      </p:sp>
      <p:sp>
        <p:nvSpPr>
          <p:cNvPr id="18" name="total-cost-value">
            <a:extLst xmlns:a="http://schemas.openxmlformats.org/drawingml/2006/main">
              <a:ext uri="{FF2B5EF4-FFF2-40B4-BE49-F238E27FC236}">
                <a16:creationId xmlns:a16="http://schemas.microsoft.com/office/drawing/2014/main" id="{1469D991-45A6-424F-8A0F-A53BD40A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38675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27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27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27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27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27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27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27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27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27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27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270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pPr>
            <a:r>
              <a:rPr sz="2700" b="0">
                <a:solidFill>
                  <a:srgbClr val="1F2D3D"/>
                </a:solidFill>
                <a:latin typeface="PingFang SC"/>
                <a:ea typeface="PingFang SC"/>
                <a:cs typeface="PingFang SC"/>
              </a:rPr>
              <a:t>2 − 1 = 1</a:t>
            </a:r>
          </a:p>
        </p:txBody>
      </p:sp>
      <p:sp>
        <p:nvSpPr>
          <p:cNvPr id="19" name="dau-revenue-label">
            <a:extLst xmlns:a="http://schemas.openxmlformats.org/drawingml/2006/main">
              <a:ext uri="{FF2B5EF4-FFF2-40B4-BE49-F238E27FC236}">
                <a16:creationId xmlns:a16="http://schemas.microsoft.com/office/drawing/2014/main" id="{966F5953-3C0F-4F37-8BB1-5E8482A1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481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rPr>
              <a:t>人均收入</a:t>
            </a:r>
          </a:p>
        </p:txBody>
      </p:sp>
      <p:sp>
        <p:nvSpPr>
          <p:cNvPr id="20" name="dau-revenue-value">
            <a:extLst xmlns:a="http://schemas.openxmlformats.org/drawingml/2006/main">
              <a:ext uri="{FF2B5EF4-FFF2-40B4-BE49-F238E27FC236}">
                <a16:creationId xmlns:a16="http://schemas.microsoft.com/office/drawing/2014/main" id="{17C49B2D-EC7B-4836-BDAC-FE662C9E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481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255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255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255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255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255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255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255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255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255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255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255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1F2D3D"/>
                </a:solidFill>
                <a:latin typeface="PingFang SC"/>
                <a:ea typeface="PingFang SC"/>
                <a:cs typeface="PingFang SC"/>
              </a:rPr>
              <a:t>1.0000  →  0.9818</a:t>
            </a:r>
          </a:p>
        </p:txBody>
      </p:sp>
      <p:sp>
        <p:nvSpPr>
          <p:cNvPr id="21" name="dau-cost-label">
            <a:extLst xmlns:a="http://schemas.openxmlformats.org/drawingml/2006/main">
              <a:ext uri="{FF2B5EF4-FFF2-40B4-BE49-F238E27FC236}">
                <a16:creationId xmlns:a16="http://schemas.microsoft.com/office/drawing/2014/main" id="{F951EFD1-6C3B-4231-939B-2C323C64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3867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F2D3D"/>
                </a:solidFill>
                <a:latin typeface="PingFang SC"/>
                <a:ea typeface="PingFang SC"/>
                <a:cs typeface="PingFang SC"/>
              </a:rPr>
              <a:t>人均花费</a:t>
            </a:r>
          </a:p>
        </p:txBody>
      </p:sp>
      <p:sp>
        <p:nvSpPr>
          <p:cNvPr id="22" name="dau-cost-value">
            <a:extLst xmlns:a="http://schemas.openxmlformats.org/drawingml/2006/main">
              <a:ext uri="{FF2B5EF4-FFF2-40B4-BE49-F238E27FC236}">
                <a16:creationId xmlns:a16="http://schemas.microsoft.com/office/drawing/2014/main" id="{C8481CF9-7F99-466D-9E07-86E74456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3867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255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255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255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255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255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255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255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255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255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255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2550" b="0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1F2D3D"/>
                </a:solidFill>
                <a:latin typeface="PingFang SC"/>
                <a:ea typeface="PingFang SC"/>
                <a:cs typeface="PingFang SC"/>
              </a:rPr>
              <a:t>0.0100  →  0.0182</a:t>
            </a:r>
          </a:p>
        </p:txBody>
      </p:sp>
      <p:sp>
        <p:nvSpPr>
          <p:cNvPr id="23" name="total-rule">
            <a:extLst xmlns:a="http://schemas.openxmlformats.org/drawingml/2006/main">
              <a:ext uri="{FF2B5EF4-FFF2-40B4-BE49-F238E27FC236}">
                <a16:creationId xmlns:a16="http://schemas.microsoft.com/office/drawing/2014/main" id="{952969C5-FB59-457B-8A7E-7A785A88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5905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EA"/>
          </a:solidFill>
          <a:ln xmlns:a="http://schemas.openxmlformats.org/drawingml/2006/main" w="15240">
            <a:solidFill>
              <a:srgbClr val="C8D8EA"/>
            </a:solidFill>
            <a:prstDash val="solid"/>
          </a:ln>
        </p:spPr>
      </p:sp>
      <p:sp>
        <p:nvSpPr>
          <p:cNvPr id="24" name="dau-rule">
            <a:extLst xmlns:a="http://schemas.openxmlformats.org/drawingml/2006/main">
              <a:ext uri="{FF2B5EF4-FFF2-40B4-BE49-F238E27FC236}">
                <a16:creationId xmlns:a16="http://schemas.microsoft.com/office/drawing/2014/main" id="{29871C78-461C-4725-B615-A07FAABF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29250"/>
            <a:ext cx="5905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1BF"/>
          </a:solidFill>
          <a:ln xmlns:a="http://schemas.openxmlformats.org/drawingml/2006/main" w="15240">
            <a:solidFill>
              <a:srgbClr val="E8D1BF"/>
            </a:solidFill>
            <a:prstDash val="solid"/>
          </a:ln>
        </p:spPr>
      </p:sp>
      <p:sp>
        <p:nvSpPr>
          <p:cNvPr id="25" name="total-roi-result">
            <a:extLst xmlns:a="http://schemas.openxmlformats.org/drawingml/2006/main">
              <a:ext uri="{FF2B5EF4-FFF2-40B4-BE49-F238E27FC236}">
                <a16:creationId xmlns:a16="http://schemas.microsoft.com/office/drawing/2014/main" id="{BC9FBCBF-FF20-4BB9-AD9A-904F601A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57875"/>
            <a:ext cx="590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4350" b="1">
                <a:solidFill>
                  <a:srgbClr val="3D72B7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4350" b="1">
                <a:solidFill>
                  <a:srgbClr val="3D72B7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4350" b="1">
                <a:solidFill>
                  <a:srgbClr val="3D72B7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4350" b="1">
                <a:solidFill>
                  <a:srgbClr val="3D72B7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4350" b="1">
                <a:solidFill>
                  <a:srgbClr val="3D72B7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4350" b="1">
                <a:solidFill>
                  <a:srgbClr val="3D72B7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4350" b="1">
                <a:solidFill>
                  <a:srgbClr val="3D72B7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4350" b="1">
                <a:solidFill>
                  <a:srgbClr val="3D72B7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4350" b="1">
                <a:solidFill>
                  <a:srgbClr val="3D72B7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4350" b="1">
                <a:solidFill>
                  <a:srgbClr val="3D72B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4350" b="1">
                <a:solidFill>
                  <a:srgbClr val="3D72B7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3D72B7"/>
                </a:solidFill>
                <a:latin typeface="PingFang SC"/>
                <a:ea typeface="PingFang SC"/>
                <a:cs typeface="PingFang SC"/>
              </a:rPr>
              <a:t>增量 ROI = 8</a:t>
            </a:r>
          </a:p>
        </p:txBody>
      </p:sp>
      <p:sp>
        <p:nvSpPr>
          <p:cNvPr id="26" name="per-dau-roi-result">
            <a:extLst xmlns:a="http://schemas.openxmlformats.org/drawingml/2006/main">
              <a:ext uri="{FF2B5EF4-FFF2-40B4-BE49-F238E27FC236}">
                <a16:creationId xmlns:a16="http://schemas.microsoft.com/office/drawing/2014/main" id="{EE543B76-2200-4E24-BE2B-2B21EE2E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857875"/>
            <a:ext cx="590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4350" b="1">
                <a:solidFill>
                  <a:srgbClr val="B768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4350" b="1">
                <a:solidFill>
                  <a:srgbClr val="B768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4350" b="1">
                <a:solidFill>
                  <a:srgbClr val="B768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4350" b="1">
                <a:solidFill>
                  <a:srgbClr val="B768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4350" b="1">
                <a:solidFill>
                  <a:srgbClr val="B768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4350" b="1">
                <a:solidFill>
                  <a:srgbClr val="B768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4350" b="1">
                <a:solidFill>
                  <a:srgbClr val="B768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4350" b="1">
                <a:solidFill>
                  <a:srgbClr val="B768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4350" b="1">
                <a:solidFill>
                  <a:srgbClr val="B768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4350" b="1">
                <a:solidFill>
                  <a:srgbClr val="B768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4350" b="1">
                <a:solidFill>
                  <a:srgbClr val="B7682C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B7682C"/>
                </a:solidFill>
                <a:latin typeface="PingFang SC"/>
                <a:ea typeface="PingFang SC"/>
                <a:cs typeface="PingFang SC"/>
              </a:rPr>
              <a:t>增量 ROI ≈ −2.22</a:t>
            </a:r>
          </a:p>
        </p:txBody>
      </p:sp>
      <p:sp>
        <p:nvSpPr>
          <p:cNvPr id="27" name="explanation">
            <a:extLst xmlns:a="http://schemas.openxmlformats.org/drawingml/2006/main">
              <a:ext uri="{FF2B5EF4-FFF2-40B4-BE49-F238E27FC236}">
                <a16:creationId xmlns:a16="http://schemas.microsoft.com/office/drawing/2014/main" id="{9BABADAE-BD6A-4E43-AE44-F79BF167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515225"/>
            <a:ext cx="1352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8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8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8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8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8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8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8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8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8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1F2D3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F2D3D"/>
                </a:solidFill>
                <a:latin typeface="PingFang SC"/>
                <a:ea typeface="PingFang SC"/>
                <a:cs typeface="PingFang SC"/>
              </a:rPr>
              <a:t>收入增长 8%，DAU 增长 10%，人均收入下降</a:t>
            </a:r>
          </a:p>
        </p:txBody>
      </p:sp>
    </p:spTree>
    <p:extLst>
      <p:ext uri="{BB962C8B-B14F-4D97-AF65-F5344CB8AC3E}">
        <p14:creationId xmlns:p14="http://schemas.microsoft.com/office/powerpoint/2010/main" val="15410034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2026-10-25T01:49:56.7910000Z</dcterms:created>
  <dcterms:modified xsi:type="dcterms:W3CDTF">2026-10-25T01:49:56.7910000Z</dcterms:modified>
</coreProperties>
</file>